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3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79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4" name="Shape 2"/>
          <p:cNvSpPr/>
          <p:nvPr/>
        </p:nvSpPr>
        <p:spPr>
          <a:xfrm>
            <a:off x="7589520" y="3108960"/>
            <a:ext cx="2286000" cy="2286000"/>
          </a:xfrm>
          <a:prstGeom prst="ellipse">
            <a:avLst/>
          </a:prstGeom>
          <a:solidFill>
            <a:srgbClr val="D4845A">
              <a:alpha val="20000"/>
            </a:srgbClr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5" name="Shape 3"/>
          <p:cNvSpPr/>
          <p:nvPr/>
        </p:nvSpPr>
        <p:spPr>
          <a:xfrm>
            <a:off x="502920" y="594360"/>
            <a:ext cx="1325880" cy="1325880"/>
          </a:xfrm>
          <a:prstGeom prst="ellipse">
            <a:avLst/>
          </a:prstGeom>
          <a:solidFill>
            <a:srgbClr val="B85042">
              <a:alpha val="85000"/>
            </a:srgbClr>
          </a:solidFill>
          <a:ln/>
        </p:spPr>
        <p:txBody>
          <a:bodyPr/>
          <a:lstStyle/>
          <a:p>
            <a:endParaRPr lang="sd-Arab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761657"/>
            <a:ext cx="932688" cy="9326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701309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Tracker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274320" y="24261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control of your money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274320" y="45996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 ·  CSV  ·  Matplotlib</a:t>
            </a:r>
            <a:endParaRPr lang="en-US" sz="1300" dirty="0"/>
          </a:p>
        </p:txBody>
      </p:sp>
      <p:pic>
        <p:nvPicPr>
          <p:cNvPr id="10" name="Image 1" descr="/home/claude/login_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502920"/>
            <a:ext cx="2468880" cy="3977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B0D54A93-427C-D93F-555C-15A7C5D3F635}"/>
              </a:ext>
            </a:extLst>
          </p:cNvPr>
          <p:cNvSpPr/>
          <p:nvPr/>
        </p:nvSpPr>
        <p:spPr>
          <a:xfrm>
            <a:off x="278617" y="2874750"/>
            <a:ext cx="4782780" cy="1467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D4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</a:p>
          <a:p>
            <a:pPr marL="0" indent="0" algn="l">
              <a:buNone/>
            </a:pPr>
            <a:r>
              <a:rPr lang="en-US" sz="2000" i="1" dirty="0">
                <a:solidFill>
                  <a:srgbClr val="D4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Kumar		25K-5636</a:t>
            </a:r>
          </a:p>
          <a:p>
            <a:pPr marL="0" indent="0" algn="l">
              <a:buNone/>
            </a:pPr>
            <a:r>
              <a:rPr lang="en-US" sz="2000" i="1" dirty="0">
                <a:solidFill>
                  <a:srgbClr val="D4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 Atif		25K-5550</a:t>
            </a:r>
          </a:p>
          <a:p>
            <a:pPr marL="0" indent="0" algn="l">
              <a:buNone/>
            </a:pPr>
            <a:r>
              <a:rPr lang="en-US" sz="2000" i="1" dirty="0">
                <a:solidFill>
                  <a:srgbClr val="D4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Razi Hussain	25K-5666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E7E0D5"/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Tracker is a multi-user, CSV-based personal finance management application. It enables users to track daily expenses, manage debts, set savings goals, define category budgets, and visualize financial data — all from a clean menu-driven interface built entirely in Python.</a:t>
            </a:r>
            <a:endParaRPr lang="en-US" sz="13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36ED75-DBB7-B563-51EA-DFB00536ACCF}"/>
              </a:ext>
            </a:extLst>
          </p:cNvPr>
          <p:cNvGrpSpPr/>
          <p:nvPr/>
        </p:nvGrpSpPr>
        <p:grpSpPr>
          <a:xfrm>
            <a:off x="365760" y="2542032"/>
            <a:ext cx="2514600" cy="960120"/>
            <a:chOff x="365760" y="2542032"/>
            <a:chExt cx="2514600" cy="960120"/>
          </a:xfrm>
        </p:grpSpPr>
        <p:sp>
          <p:nvSpPr>
            <p:cNvPr id="5" name="Shape 3"/>
            <p:cNvSpPr/>
            <p:nvPr/>
          </p:nvSpPr>
          <p:spPr>
            <a:xfrm>
              <a:off x="365760" y="2542032"/>
              <a:ext cx="251460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6" name="Shape 4"/>
            <p:cNvSpPr/>
            <p:nvPr/>
          </p:nvSpPr>
          <p:spPr>
            <a:xfrm>
              <a:off x="365760" y="2542032"/>
              <a:ext cx="64008" cy="960120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7" name="Text 5"/>
            <p:cNvSpPr/>
            <p:nvPr/>
          </p:nvSpPr>
          <p:spPr>
            <a:xfrm>
              <a:off x="521208" y="2615184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Multi-User Auth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1208" y="2944368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Register &amp; login with CSV-backed user storage</a:t>
              </a:r>
              <a:endParaRPr lang="en-US" sz="11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65E5DE-62AD-F9D4-E4B7-C73D14F48FFD}"/>
              </a:ext>
            </a:extLst>
          </p:cNvPr>
          <p:cNvGrpSpPr/>
          <p:nvPr/>
        </p:nvGrpSpPr>
        <p:grpSpPr>
          <a:xfrm>
            <a:off x="3017520" y="2542032"/>
            <a:ext cx="2514600" cy="960120"/>
            <a:chOff x="3017520" y="2542032"/>
            <a:chExt cx="2514600" cy="960120"/>
          </a:xfrm>
        </p:grpSpPr>
        <p:sp>
          <p:nvSpPr>
            <p:cNvPr id="9" name="Shape 7"/>
            <p:cNvSpPr/>
            <p:nvPr/>
          </p:nvSpPr>
          <p:spPr>
            <a:xfrm>
              <a:off x="3017520" y="2542032"/>
              <a:ext cx="251460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0" name="Shape 8"/>
            <p:cNvSpPr/>
            <p:nvPr/>
          </p:nvSpPr>
          <p:spPr>
            <a:xfrm>
              <a:off x="3017520" y="2542032"/>
              <a:ext cx="64008" cy="960120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1" name="Text 9"/>
            <p:cNvSpPr/>
            <p:nvPr/>
          </p:nvSpPr>
          <p:spPr>
            <a:xfrm>
              <a:off x="3172968" y="2615184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Expense Tracking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172968" y="2944368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Add, view, delete expenses by category &amp; date</a:t>
              </a:r>
              <a:endParaRPr lang="en-US" sz="11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F055FF7-278E-BA85-D2C4-FA1032164A15}"/>
              </a:ext>
            </a:extLst>
          </p:cNvPr>
          <p:cNvGrpSpPr/>
          <p:nvPr/>
        </p:nvGrpSpPr>
        <p:grpSpPr>
          <a:xfrm>
            <a:off x="365760" y="3703320"/>
            <a:ext cx="2514600" cy="960120"/>
            <a:chOff x="365760" y="3703320"/>
            <a:chExt cx="2514600" cy="960120"/>
          </a:xfrm>
        </p:grpSpPr>
        <p:sp>
          <p:nvSpPr>
            <p:cNvPr id="13" name="Shape 11"/>
            <p:cNvSpPr/>
            <p:nvPr/>
          </p:nvSpPr>
          <p:spPr>
            <a:xfrm>
              <a:off x="365760" y="3703320"/>
              <a:ext cx="251460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4" name="Shape 12"/>
            <p:cNvSpPr/>
            <p:nvPr/>
          </p:nvSpPr>
          <p:spPr>
            <a:xfrm>
              <a:off x="365760" y="3703320"/>
              <a:ext cx="64008" cy="960120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5" name="Text 13"/>
            <p:cNvSpPr/>
            <p:nvPr/>
          </p:nvSpPr>
          <p:spPr>
            <a:xfrm>
              <a:off x="521208" y="377647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Debt Management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21208" y="4105656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debts, repayments, remaining balances</a:t>
              </a:r>
              <a:endParaRPr lang="en-US" sz="11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401255-2B21-9EE3-370D-D36622085F73}"/>
              </a:ext>
            </a:extLst>
          </p:cNvPr>
          <p:cNvGrpSpPr/>
          <p:nvPr/>
        </p:nvGrpSpPr>
        <p:grpSpPr>
          <a:xfrm>
            <a:off x="3017520" y="3703320"/>
            <a:ext cx="2514600" cy="960120"/>
            <a:chOff x="3017520" y="3703320"/>
            <a:chExt cx="2514600" cy="960120"/>
          </a:xfrm>
        </p:grpSpPr>
        <p:sp>
          <p:nvSpPr>
            <p:cNvPr id="17" name="Shape 15"/>
            <p:cNvSpPr/>
            <p:nvPr/>
          </p:nvSpPr>
          <p:spPr>
            <a:xfrm>
              <a:off x="3017520" y="3703320"/>
              <a:ext cx="2514600" cy="9601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8" name="Shape 16"/>
            <p:cNvSpPr/>
            <p:nvPr/>
          </p:nvSpPr>
          <p:spPr>
            <a:xfrm>
              <a:off x="3017520" y="3703320"/>
              <a:ext cx="64008" cy="960120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9" name="Text 17"/>
            <p:cNvSpPr/>
            <p:nvPr/>
          </p:nvSpPr>
          <p:spPr>
            <a:xfrm>
              <a:off x="3172968" y="377647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 Analytics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172968" y="4105656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pie charts: category, monthly, savings, debt, budget</a:t>
              </a:r>
              <a:endParaRPr lang="en-US" sz="1100" dirty="0"/>
            </a:p>
          </p:txBody>
        </p:sp>
      </p:grpSp>
      <p:pic>
        <p:nvPicPr>
          <p:cNvPr id="21" name="Image 0" descr="/home/claude/login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51560"/>
            <a:ext cx="2788920" cy="379476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CB6EA8-4819-A6E8-F582-F9EA22A9E605}"/>
              </a:ext>
            </a:extLst>
          </p:cNvPr>
          <p:cNvGrpSpPr/>
          <p:nvPr/>
        </p:nvGrpSpPr>
        <p:grpSpPr>
          <a:xfrm>
            <a:off x="256032" y="1188720"/>
            <a:ext cx="2743200" cy="1618488"/>
            <a:chOff x="256032" y="1188720"/>
            <a:chExt cx="2743200" cy="1618488"/>
          </a:xfrm>
        </p:grpSpPr>
        <p:sp>
          <p:nvSpPr>
            <p:cNvPr id="4" name="Shape 2"/>
            <p:cNvSpPr/>
            <p:nvPr/>
          </p:nvSpPr>
          <p:spPr>
            <a:xfrm>
              <a:off x="256032" y="1188720"/>
              <a:ext cx="2743200" cy="1618488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5" name="Shape 3"/>
            <p:cNvSpPr/>
            <p:nvPr/>
          </p:nvSpPr>
          <p:spPr>
            <a:xfrm>
              <a:off x="365760" y="1316736"/>
              <a:ext cx="612648" cy="612648"/>
            </a:xfrm>
            <a:prstGeom prst="ellipse">
              <a:avLst/>
            </a:prstGeom>
            <a:solidFill>
              <a:srgbClr val="B85042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624" y="1371600"/>
              <a:ext cx="475488" cy="475488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051560" y="1344168"/>
              <a:ext cx="186537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Expense Logger</a:t>
              </a:r>
              <a:endParaRPr lang="en-US" sz="13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47472" y="1892808"/>
              <a:ext cx="257860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amounts, categories &amp; auto-timestamped dates per entry</a:t>
              </a:r>
              <a:endParaRPr lang="en-US" sz="11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5BAE672-4883-C9E5-B03A-97398A78FF82}"/>
              </a:ext>
            </a:extLst>
          </p:cNvPr>
          <p:cNvGrpSpPr/>
          <p:nvPr/>
        </p:nvGrpSpPr>
        <p:grpSpPr>
          <a:xfrm>
            <a:off x="3200400" y="1188720"/>
            <a:ext cx="2743200" cy="1618488"/>
            <a:chOff x="3200400" y="1188720"/>
            <a:chExt cx="2743200" cy="1618488"/>
          </a:xfrm>
        </p:grpSpPr>
        <p:sp>
          <p:nvSpPr>
            <p:cNvPr id="9" name="Shape 6"/>
            <p:cNvSpPr/>
            <p:nvPr/>
          </p:nvSpPr>
          <p:spPr>
            <a:xfrm>
              <a:off x="3200400" y="1188720"/>
              <a:ext cx="2743200" cy="1618488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0" name="Shape 7"/>
            <p:cNvSpPr/>
            <p:nvPr/>
          </p:nvSpPr>
          <p:spPr>
            <a:xfrm>
              <a:off x="3310128" y="1316736"/>
              <a:ext cx="612648" cy="612648"/>
            </a:xfrm>
            <a:prstGeom prst="ellipse">
              <a:avLst/>
            </a:prstGeom>
            <a:solidFill>
              <a:srgbClr val="D4845A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64992" y="1371600"/>
              <a:ext cx="475488" cy="475488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3995928" y="1344168"/>
              <a:ext cx="186537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Debt Tracker</a:t>
              </a:r>
              <a:endParaRPr lang="en-US" sz="13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291840" y="1892808"/>
              <a:ext cx="257860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creditors, record repayments, see remaining balances</a:t>
              </a:r>
              <a:endParaRPr lang="en-US" sz="11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2AACAF-9427-3C5B-2ABF-06DB01218BE2}"/>
              </a:ext>
            </a:extLst>
          </p:cNvPr>
          <p:cNvGrpSpPr/>
          <p:nvPr/>
        </p:nvGrpSpPr>
        <p:grpSpPr>
          <a:xfrm>
            <a:off x="6144768" y="1188720"/>
            <a:ext cx="2743200" cy="1618488"/>
            <a:chOff x="6144768" y="1188720"/>
            <a:chExt cx="2743200" cy="1618488"/>
          </a:xfrm>
        </p:grpSpPr>
        <p:sp>
          <p:nvSpPr>
            <p:cNvPr id="14" name="Shape 10"/>
            <p:cNvSpPr/>
            <p:nvPr/>
          </p:nvSpPr>
          <p:spPr>
            <a:xfrm>
              <a:off x="6144768" y="1188720"/>
              <a:ext cx="2743200" cy="1618488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5" name="Shape 11"/>
            <p:cNvSpPr/>
            <p:nvPr/>
          </p:nvSpPr>
          <p:spPr>
            <a:xfrm>
              <a:off x="6254496" y="1316736"/>
              <a:ext cx="612648" cy="612648"/>
            </a:xfrm>
            <a:prstGeom prst="ellipse">
              <a:avLst/>
            </a:prstGeom>
            <a:solidFill>
              <a:srgbClr val="A7BEAE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9360" y="1371600"/>
              <a:ext cx="475488" cy="475488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6940296" y="1344168"/>
              <a:ext cx="186537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Budget Goals</a:t>
              </a:r>
              <a:endParaRPr lang="en-US" sz="13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6236208" y="1892808"/>
              <a:ext cx="257860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per-category limits; get warnings when exceeded</a:t>
              </a:r>
              <a:endParaRPr lang="en-US" sz="11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F7496B-B262-B360-7E96-B9A50327436E}"/>
              </a:ext>
            </a:extLst>
          </p:cNvPr>
          <p:cNvGrpSpPr/>
          <p:nvPr/>
        </p:nvGrpSpPr>
        <p:grpSpPr>
          <a:xfrm>
            <a:off x="256032" y="2990088"/>
            <a:ext cx="2743200" cy="1618488"/>
            <a:chOff x="256032" y="2990088"/>
            <a:chExt cx="2743200" cy="1618488"/>
          </a:xfrm>
        </p:grpSpPr>
        <p:sp>
          <p:nvSpPr>
            <p:cNvPr id="19" name="Shape 14"/>
            <p:cNvSpPr/>
            <p:nvPr/>
          </p:nvSpPr>
          <p:spPr>
            <a:xfrm>
              <a:off x="256032" y="2990088"/>
              <a:ext cx="2743200" cy="1618488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20" name="Shape 15"/>
            <p:cNvSpPr/>
            <p:nvPr/>
          </p:nvSpPr>
          <p:spPr>
            <a:xfrm>
              <a:off x="365760" y="3118104"/>
              <a:ext cx="612648" cy="612648"/>
            </a:xfrm>
            <a:prstGeom prst="ellipse">
              <a:avLst/>
            </a:prstGeom>
            <a:solidFill>
              <a:srgbClr val="028090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0624" y="3172968"/>
              <a:ext cx="475488" cy="475488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1051560" y="3145536"/>
              <a:ext cx="186537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Savings Manager</a:t>
              </a:r>
              <a:endParaRPr lang="en-US" sz="1300" dirty="0"/>
            </a:p>
          </p:txBody>
        </p:sp>
        <p:sp>
          <p:nvSpPr>
            <p:cNvPr id="23" name="Text 17"/>
            <p:cNvSpPr/>
            <p:nvPr/>
          </p:nvSpPr>
          <p:spPr>
            <a:xfrm>
              <a:off x="347472" y="3694176"/>
              <a:ext cx="257860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 a target and log contributions to track progress</a:t>
              </a:r>
              <a:endParaRPr lang="en-US" sz="11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B2CDF47-DFD2-49FF-6C2B-ACAC46E69C78}"/>
              </a:ext>
            </a:extLst>
          </p:cNvPr>
          <p:cNvGrpSpPr/>
          <p:nvPr/>
        </p:nvGrpSpPr>
        <p:grpSpPr>
          <a:xfrm>
            <a:off x="3200400" y="2990088"/>
            <a:ext cx="2743200" cy="1618488"/>
            <a:chOff x="3200400" y="2990088"/>
            <a:chExt cx="2743200" cy="1618488"/>
          </a:xfrm>
        </p:grpSpPr>
        <p:sp>
          <p:nvSpPr>
            <p:cNvPr id="24" name="Shape 18"/>
            <p:cNvSpPr/>
            <p:nvPr/>
          </p:nvSpPr>
          <p:spPr>
            <a:xfrm>
              <a:off x="3200400" y="2990088"/>
              <a:ext cx="2743200" cy="1618488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25" name="Shape 19"/>
            <p:cNvSpPr/>
            <p:nvPr/>
          </p:nvSpPr>
          <p:spPr>
            <a:xfrm>
              <a:off x="3310128" y="3118104"/>
              <a:ext cx="612648" cy="612648"/>
            </a:xfrm>
            <a:prstGeom prst="ellipse">
              <a:avLst/>
            </a:prstGeom>
            <a:solidFill>
              <a:srgbClr val="6D2E46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2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64992" y="3172968"/>
              <a:ext cx="475488" cy="475488"/>
            </a:xfrm>
            <a:prstGeom prst="rect">
              <a:avLst/>
            </a:prstGeom>
          </p:spPr>
        </p:pic>
        <p:sp>
          <p:nvSpPr>
            <p:cNvPr id="27" name="Text 20"/>
            <p:cNvSpPr/>
            <p:nvPr/>
          </p:nvSpPr>
          <p:spPr>
            <a:xfrm>
              <a:off x="3995928" y="3145536"/>
              <a:ext cx="186537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Visual Charts</a:t>
              </a:r>
              <a:endParaRPr lang="en-US" sz="1300" dirty="0"/>
            </a:p>
          </p:txBody>
        </p:sp>
        <p:sp>
          <p:nvSpPr>
            <p:cNvPr id="28" name="Text 21"/>
            <p:cNvSpPr/>
            <p:nvPr/>
          </p:nvSpPr>
          <p:spPr>
            <a:xfrm>
              <a:off x="3291840" y="3694176"/>
              <a:ext cx="257860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Pie charts for category, monthly, savings, debt, budget</a:t>
              </a:r>
              <a:endParaRPr lang="en-US" sz="11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2D98C3-C592-77ED-AEB8-C045C9B69ABE}"/>
              </a:ext>
            </a:extLst>
          </p:cNvPr>
          <p:cNvGrpSpPr/>
          <p:nvPr/>
        </p:nvGrpSpPr>
        <p:grpSpPr>
          <a:xfrm>
            <a:off x="6190877" y="2990088"/>
            <a:ext cx="2743200" cy="1618488"/>
            <a:chOff x="6144768" y="2990088"/>
            <a:chExt cx="2743200" cy="1618488"/>
          </a:xfrm>
        </p:grpSpPr>
        <p:sp>
          <p:nvSpPr>
            <p:cNvPr id="29" name="Shape 22"/>
            <p:cNvSpPr/>
            <p:nvPr/>
          </p:nvSpPr>
          <p:spPr>
            <a:xfrm>
              <a:off x="6144768" y="2990088"/>
              <a:ext cx="2743200" cy="1618488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 dirty="0"/>
            </a:p>
          </p:txBody>
        </p:sp>
        <p:sp>
          <p:nvSpPr>
            <p:cNvPr id="32" name="Text 24"/>
            <p:cNvSpPr/>
            <p:nvPr/>
          </p:nvSpPr>
          <p:spPr>
            <a:xfrm>
              <a:off x="6940296" y="3145536"/>
              <a:ext cx="1865376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Secure Auth</a:t>
              </a:r>
              <a:endParaRPr lang="en-US" sz="1300" dirty="0"/>
            </a:p>
          </p:txBody>
        </p:sp>
        <p:sp>
          <p:nvSpPr>
            <p:cNvPr id="33" name="Text 25"/>
            <p:cNvSpPr/>
            <p:nvPr/>
          </p:nvSpPr>
          <p:spPr>
            <a:xfrm>
              <a:off x="6236208" y="3694176"/>
              <a:ext cx="257860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Register/login with password; fully isolated per-user data</a:t>
              </a:r>
              <a:endParaRPr lang="en-US" sz="1100" dirty="0"/>
            </a:p>
          </p:txBody>
        </p:sp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09360" y="3172968"/>
              <a:ext cx="475488" cy="475488"/>
            </a:xfrm>
            <a:prstGeom prst="rect">
              <a:avLst/>
            </a:prstGeom>
          </p:spPr>
        </p:pic>
        <p:sp>
          <p:nvSpPr>
            <p:cNvPr id="40" name="Shape 23"/>
            <p:cNvSpPr/>
            <p:nvPr/>
          </p:nvSpPr>
          <p:spPr>
            <a:xfrm>
              <a:off x="6240780" y="3088856"/>
              <a:ext cx="612648" cy="612648"/>
            </a:xfrm>
            <a:prstGeom prst="ellipse">
              <a:avLst/>
            </a:prstGeom>
            <a:solidFill>
              <a:srgbClr val="36454F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E7E0D5"/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walkthrough of the user journey inside Finance Tracker</a:t>
            </a:r>
            <a:endParaRPr lang="en-US" sz="13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51A9DFE-91EC-7DCB-B59E-43D3B97CC996}"/>
              </a:ext>
            </a:extLst>
          </p:cNvPr>
          <p:cNvGrpSpPr/>
          <p:nvPr/>
        </p:nvGrpSpPr>
        <p:grpSpPr>
          <a:xfrm>
            <a:off x="365760" y="1508760"/>
            <a:ext cx="1700784" cy="3108960"/>
            <a:chOff x="365760" y="1508760"/>
            <a:chExt cx="1700784" cy="3108960"/>
          </a:xfrm>
        </p:grpSpPr>
        <p:sp>
          <p:nvSpPr>
            <p:cNvPr id="5" name="Shape 3"/>
            <p:cNvSpPr/>
            <p:nvPr/>
          </p:nvSpPr>
          <p:spPr>
            <a:xfrm>
              <a:off x="365760" y="1508760"/>
              <a:ext cx="1572768" cy="3108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65760" y="1508760"/>
              <a:ext cx="1572768" cy="73152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60020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B8504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2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841248" y="2084832"/>
              <a:ext cx="621792" cy="621792"/>
            </a:xfrm>
            <a:prstGeom prst="ellipse">
              <a:avLst/>
            </a:prstGeom>
            <a:solidFill>
              <a:srgbClr val="B85042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256" y="2148840"/>
              <a:ext cx="475488" cy="475488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420624" y="2816352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Register</a:t>
              </a:r>
              <a:endParaRPr lang="en-US" sz="12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420624" y="3246120"/>
              <a:ext cx="14630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a new account with a unique username &amp; password stored in users.csv</a:t>
              </a:r>
              <a:endParaRPr lang="en-US" sz="10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1938528" y="2359152"/>
              <a:ext cx="128016" cy="54864"/>
            </a:xfrm>
            <a:prstGeom prst="rect">
              <a:avLst/>
            </a:prstGeom>
            <a:solidFill>
              <a:srgbClr val="8B7355"/>
            </a:solidFill>
            <a:ln/>
          </p:spPr>
          <p:txBody>
            <a:bodyPr/>
            <a:lstStyle/>
            <a:p>
              <a:endParaRPr lang="sd-Arab-PK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49FCB0-6D6E-FDBA-39B0-C95EFD988B73}"/>
              </a:ext>
            </a:extLst>
          </p:cNvPr>
          <p:cNvGrpSpPr/>
          <p:nvPr/>
        </p:nvGrpSpPr>
        <p:grpSpPr>
          <a:xfrm>
            <a:off x="2066544" y="1508760"/>
            <a:ext cx="1700784" cy="3108960"/>
            <a:chOff x="2066544" y="1508760"/>
            <a:chExt cx="1700784" cy="3108960"/>
          </a:xfrm>
        </p:grpSpPr>
        <p:sp>
          <p:nvSpPr>
            <p:cNvPr id="13" name="Shape 10"/>
            <p:cNvSpPr/>
            <p:nvPr/>
          </p:nvSpPr>
          <p:spPr>
            <a:xfrm>
              <a:off x="2066544" y="1508760"/>
              <a:ext cx="1572768" cy="3108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4" name="Shape 11"/>
            <p:cNvSpPr/>
            <p:nvPr/>
          </p:nvSpPr>
          <p:spPr>
            <a:xfrm>
              <a:off x="2066544" y="1508760"/>
              <a:ext cx="1572768" cy="73152"/>
            </a:xfrm>
            <a:prstGeom prst="rect">
              <a:avLst/>
            </a:prstGeom>
            <a:solidFill>
              <a:srgbClr val="D4845A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5" name="Text 12"/>
            <p:cNvSpPr/>
            <p:nvPr/>
          </p:nvSpPr>
          <p:spPr>
            <a:xfrm>
              <a:off x="2066544" y="160020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D4845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22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2542032" y="2084832"/>
              <a:ext cx="621792" cy="621792"/>
            </a:xfrm>
            <a:prstGeom prst="ellipse">
              <a:avLst/>
            </a:prstGeom>
            <a:solidFill>
              <a:srgbClr val="D4845A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6040" y="2148840"/>
              <a:ext cx="475488" cy="475488"/>
            </a:xfrm>
            <a:prstGeom prst="rect">
              <a:avLst/>
            </a:prstGeom>
          </p:spPr>
        </p:pic>
        <p:sp>
          <p:nvSpPr>
            <p:cNvPr id="18" name="Text 14"/>
            <p:cNvSpPr/>
            <p:nvPr/>
          </p:nvSpPr>
          <p:spPr>
            <a:xfrm>
              <a:off x="2121408" y="2816352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Login</a:t>
              </a:r>
              <a:endParaRPr lang="en-US" sz="125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2121408" y="3246120"/>
              <a:ext cx="14630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Authenticate credentials; session is active until the user logs out</a:t>
              </a:r>
              <a:endParaRPr lang="en-US" sz="105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3639312" y="2359152"/>
              <a:ext cx="128016" cy="54864"/>
            </a:xfrm>
            <a:prstGeom prst="rect">
              <a:avLst/>
            </a:prstGeom>
            <a:solidFill>
              <a:srgbClr val="8B7355"/>
            </a:solidFill>
            <a:ln/>
          </p:spPr>
          <p:txBody>
            <a:bodyPr/>
            <a:lstStyle/>
            <a:p>
              <a:endParaRPr lang="sd-Arab-PK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B7028F6-D90E-4257-B1D2-0A9A0143A4FE}"/>
              </a:ext>
            </a:extLst>
          </p:cNvPr>
          <p:cNvGrpSpPr/>
          <p:nvPr/>
        </p:nvGrpSpPr>
        <p:grpSpPr>
          <a:xfrm>
            <a:off x="3767328" y="1508760"/>
            <a:ext cx="1700784" cy="3108960"/>
            <a:chOff x="3767328" y="1508760"/>
            <a:chExt cx="1700784" cy="3108960"/>
          </a:xfrm>
        </p:grpSpPr>
        <p:sp>
          <p:nvSpPr>
            <p:cNvPr id="21" name="Shape 17"/>
            <p:cNvSpPr/>
            <p:nvPr/>
          </p:nvSpPr>
          <p:spPr>
            <a:xfrm>
              <a:off x="3767328" y="1508760"/>
              <a:ext cx="1572768" cy="3108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22" name="Shape 18"/>
            <p:cNvSpPr/>
            <p:nvPr/>
          </p:nvSpPr>
          <p:spPr>
            <a:xfrm>
              <a:off x="3767328" y="1508760"/>
              <a:ext cx="1572768" cy="73152"/>
            </a:xfrm>
            <a:prstGeom prst="rect">
              <a:avLst/>
            </a:prstGeom>
            <a:solidFill>
              <a:srgbClr val="028090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23" name="Text 19"/>
            <p:cNvSpPr/>
            <p:nvPr/>
          </p:nvSpPr>
          <p:spPr>
            <a:xfrm>
              <a:off x="3767328" y="160020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02809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2200" dirty="0"/>
            </a:p>
          </p:txBody>
        </p:sp>
        <p:sp>
          <p:nvSpPr>
            <p:cNvPr id="24" name="Shape 20"/>
            <p:cNvSpPr/>
            <p:nvPr/>
          </p:nvSpPr>
          <p:spPr>
            <a:xfrm>
              <a:off x="4242816" y="2084832"/>
              <a:ext cx="621792" cy="621792"/>
            </a:xfrm>
            <a:prstGeom prst="ellipse">
              <a:avLst/>
            </a:prstGeom>
            <a:solidFill>
              <a:srgbClr val="028090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2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6824" y="2148840"/>
              <a:ext cx="475488" cy="475488"/>
            </a:xfrm>
            <a:prstGeom prst="rect">
              <a:avLst/>
            </a:prstGeom>
          </p:spPr>
        </p:pic>
        <p:sp>
          <p:nvSpPr>
            <p:cNvPr id="26" name="Text 21"/>
            <p:cNvSpPr/>
            <p:nvPr/>
          </p:nvSpPr>
          <p:spPr>
            <a:xfrm>
              <a:off x="3822192" y="2816352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Manage Data</a:t>
              </a:r>
              <a:endParaRPr lang="en-US" sz="1250" dirty="0"/>
            </a:p>
          </p:txBody>
        </p:sp>
        <p:sp>
          <p:nvSpPr>
            <p:cNvPr id="27" name="Text 22"/>
            <p:cNvSpPr/>
            <p:nvPr/>
          </p:nvSpPr>
          <p:spPr>
            <a:xfrm>
              <a:off x="3822192" y="3246120"/>
              <a:ext cx="14630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 expenses, debts, set budgets, and update savings from the main menu</a:t>
              </a:r>
              <a:endParaRPr lang="en-US" sz="1050" dirty="0"/>
            </a:p>
          </p:txBody>
        </p:sp>
        <p:sp>
          <p:nvSpPr>
            <p:cNvPr id="28" name="Shape 23"/>
            <p:cNvSpPr/>
            <p:nvPr/>
          </p:nvSpPr>
          <p:spPr>
            <a:xfrm>
              <a:off x="5340096" y="2359152"/>
              <a:ext cx="128016" cy="54864"/>
            </a:xfrm>
            <a:prstGeom prst="rect">
              <a:avLst/>
            </a:prstGeom>
            <a:solidFill>
              <a:srgbClr val="8B7355"/>
            </a:solidFill>
            <a:ln/>
          </p:spPr>
          <p:txBody>
            <a:bodyPr/>
            <a:lstStyle/>
            <a:p>
              <a:endParaRPr lang="sd-Arab-PK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828B64B-59E0-31AA-13F0-324AF1F6D507}"/>
              </a:ext>
            </a:extLst>
          </p:cNvPr>
          <p:cNvGrpSpPr/>
          <p:nvPr/>
        </p:nvGrpSpPr>
        <p:grpSpPr>
          <a:xfrm>
            <a:off x="5468112" y="1508760"/>
            <a:ext cx="1700784" cy="3108960"/>
            <a:chOff x="5468112" y="1508760"/>
            <a:chExt cx="1700784" cy="3108960"/>
          </a:xfrm>
        </p:grpSpPr>
        <p:sp>
          <p:nvSpPr>
            <p:cNvPr id="29" name="Shape 24"/>
            <p:cNvSpPr/>
            <p:nvPr/>
          </p:nvSpPr>
          <p:spPr>
            <a:xfrm>
              <a:off x="5468112" y="1508760"/>
              <a:ext cx="1572768" cy="3108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30" name="Shape 25"/>
            <p:cNvSpPr/>
            <p:nvPr/>
          </p:nvSpPr>
          <p:spPr>
            <a:xfrm>
              <a:off x="5468112" y="1508760"/>
              <a:ext cx="1572768" cy="73152"/>
            </a:xfrm>
            <a:prstGeom prst="rect">
              <a:avLst/>
            </a:prstGeom>
            <a:solidFill>
              <a:srgbClr val="6D2E46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31" name="Text 26"/>
            <p:cNvSpPr/>
            <p:nvPr/>
          </p:nvSpPr>
          <p:spPr>
            <a:xfrm>
              <a:off x="5468112" y="160020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6D2E4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04</a:t>
              </a:r>
              <a:endParaRPr lang="en-US" sz="2200" dirty="0"/>
            </a:p>
          </p:txBody>
        </p:sp>
        <p:sp>
          <p:nvSpPr>
            <p:cNvPr id="32" name="Shape 27"/>
            <p:cNvSpPr/>
            <p:nvPr/>
          </p:nvSpPr>
          <p:spPr>
            <a:xfrm>
              <a:off x="5943600" y="2084832"/>
              <a:ext cx="621792" cy="621792"/>
            </a:xfrm>
            <a:prstGeom prst="ellipse">
              <a:avLst/>
            </a:prstGeom>
            <a:solidFill>
              <a:srgbClr val="6D2E46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pic>
          <p:nvPicPr>
            <p:cNvPr id="33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07608" y="2148840"/>
              <a:ext cx="475488" cy="475488"/>
            </a:xfrm>
            <a:prstGeom prst="rect">
              <a:avLst/>
            </a:prstGeom>
          </p:spPr>
        </p:pic>
        <p:sp>
          <p:nvSpPr>
            <p:cNvPr id="34" name="Text 28"/>
            <p:cNvSpPr/>
            <p:nvPr/>
          </p:nvSpPr>
          <p:spPr>
            <a:xfrm>
              <a:off x="5522976" y="2816352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View Analytics</a:t>
              </a:r>
              <a:endParaRPr lang="en-US" sz="1250" dirty="0"/>
            </a:p>
          </p:txBody>
        </p:sp>
        <p:sp>
          <p:nvSpPr>
            <p:cNvPr id="35" name="Text 29"/>
            <p:cNvSpPr/>
            <p:nvPr/>
          </p:nvSpPr>
          <p:spPr>
            <a:xfrm>
              <a:off x="5522976" y="3246120"/>
              <a:ext cx="14630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 live pie charts — category, monthly, savings, debt, or budget view</a:t>
              </a:r>
              <a:endParaRPr lang="en-US" sz="1050" dirty="0"/>
            </a:p>
          </p:txBody>
        </p:sp>
        <p:sp>
          <p:nvSpPr>
            <p:cNvPr id="36" name="Shape 30"/>
            <p:cNvSpPr/>
            <p:nvPr/>
          </p:nvSpPr>
          <p:spPr>
            <a:xfrm>
              <a:off x="7040880" y="2359152"/>
              <a:ext cx="128016" cy="54864"/>
            </a:xfrm>
            <a:prstGeom prst="rect">
              <a:avLst/>
            </a:prstGeom>
            <a:solidFill>
              <a:srgbClr val="8B7355"/>
            </a:solidFill>
            <a:ln/>
          </p:spPr>
          <p:txBody>
            <a:bodyPr/>
            <a:lstStyle/>
            <a:p>
              <a:endParaRPr lang="sd-Arab-PK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B035A86-5A9D-65CA-D8A9-AACFED4DB379}"/>
              </a:ext>
            </a:extLst>
          </p:cNvPr>
          <p:cNvGrpSpPr/>
          <p:nvPr/>
        </p:nvGrpSpPr>
        <p:grpSpPr>
          <a:xfrm>
            <a:off x="7168896" y="1508760"/>
            <a:ext cx="1572768" cy="3108960"/>
            <a:chOff x="7168896" y="1508760"/>
            <a:chExt cx="1572768" cy="3108960"/>
          </a:xfrm>
        </p:grpSpPr>
        <p:sp>
          <p:nvSpPr>
            <p:cNvPr id="37" name="Shape 31"/>
            <p:cNvSpPr/>
            <p:nvPr/>
          </p:nvSpPr>
          <p:spPr>
            <a:xfrm>
              <a:off x="7168896" y="1508760"/>
              <a:ext cx="1572768" cy="31089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38" name="Shape 32"/>
            <p:cNvSpPr/>
            <p:nvPr/>
          </p:nvSpPr>
          <p:spPr>
            <a:xfrm>
              <a:off x="7168896" y="1508760"/>
              <a:ext cx="1572768" cy="73152"/>
            </a:xfrm>
            <a:prstGeom prst="rect">
              <a:avLst/>
            </a:prstGeom>
            <a:solidFill>
              <a:srgbClr val="A7BEAE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39" name="Text 33"/>
            <p:cNvSpPr/>
            <p:nvPr/>
          </p:nvSpPr>
          <p:spPr>
            <a:xfrm>
              <a:off x="7168896" y="1600200"/>
              <a:ext cx="1572768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A7BEA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05</a:t>
              </a:r>
              <a:endParaRPr lang="en-US" sz="2200" dirty="0"/>
            </a:p>
          </p:txBody>
        </p:sp>
        <p:sp>
          <p:nvSpPr>
            <p:cNvPr id="40" name="Shape 34"/>
            <p:cNvSpPr/>
            <p:nvPr/>
          </p:nvSpPr>
          <p:spPr>
            <a:xfrm>
              <a:off x="7644384" y="2084832"/>
              <a:ext cx="621792" cy="621792"/>
            </a:xfrm>
            <a:prstGeom prst="ellipse">
              <a:avLst/>
            </a:prstGeom>
            <a:solidFill>
              <a:srgbClr val="A7BEAE">
                <a:alpha val="85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42" name="Text 35"/>
            <p:cNvSpPr/>
            <p:nvPr/>
          </p:nvSpPr>
          <p:spPr>
            <a:xfrm>
              <a:off x="7223760" y="2816352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2C1A1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Progress</a:t>
              </a:r>
              <a:endParaRPr lang="en-US" sz="1250" dirty="0"/>
            </a:p>
          </p:txBody>
        </p:sp>
        <p:sp>
          <p:nvSpPr>
            <p:cNvPr id="43" name="Text 36"/>
            <p:cNvSpPr/>
            <p:nvPr/>
          </p:nvSpPr>
          <p:spPr>
            <a:xfrm>
              <a:off x="7223760" y="3246120"/>
              <a:ext cx="1463040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Monitor savings goals, remaining debts, and budget warnings over time</a:t>
              </a:r>
              <a:endParaRPr lang="en-US" sz="1050" dirty="0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F928F94-B49B-9EEE-14FF-54392B2DF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17536" y="2157984"/>
              <a:ext cx="475488" cy="47548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&amp; Analytics</a:t>
            </a:r>
            <a:endParaRPr lang="en-US" sz="3400" dirty="0"/>
          </a:p>
        </p:txBody>
      </p:sp>
      <p:pic>
        <p:nvPicPr>
          <p:cNvPr id="4" name="Image 0" descr="/home/claude/charts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5394960" cy="35204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CF08F09-742E-98E9-FE19-30E442C92FA4}"/>
              </a:ext>
            </a:extLst>
          </p:cNvPr>
          <p:cNvGrpSpPr/>
          <p:nvPr/>
        </p:nvGrpSpPr>
        <p:grpSpPr>
          <a:xfrm>
            <a:off x="5852160" y="1170432"/>
            <a:ext cx="3017520" cy="621792"/>
            <a:chOff x="5852160" y="1170432"/>
            <a:chExt cx="3017520" cy="621792"/>
          </a:xfrm>
        </p:grpSpPr>
        <p:sp>
          <p:nvSpPr>
            <p:cNvPr id="5" name="Shape 2"/>
            <p:cNvSpPr/>
            <p:nvPr/>
          </p:nvSpPr>
          <p:spPr>
            <a:xfrm>
              <a:off x="5852160" y="1170432"/>
              <a:ext cx="3017520" cy="621792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6" name="Shape 3"/>
            <p:cNvSpPr/>
            <p:nvPr/>
          </p:nvSpPr>
          <p:spPr>
            <a:xfrm>
              <a:off x="5852160" y="1170432"/>
              <a:ext cx="54864" cy="621792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7" name="Text 4"/>
            <p:cNvSpPr/>
            <p:nvPr/>
          </p:nvSpPr>
          <p:spPr>
            <a:xfrm>
              <a:off x="5998464" y="1207008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Spending by Category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998464" y="1481328"/>
              <a:ext cx="2788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Pie chart of total spend per category — Food, Transport, etc.</a:t>
              </a:r>
              <a:endParaRPr lang="en-US" sz="10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5F1CC9-A7B5-94BA-4716-9A0D657435EE}"/>
              </a:ext>
            </a:extLst>
          </p:cNvPr>
          <p:cNvGrpSpPr/>
          <p:nvPr/>
        </p:nvGrpSpPr>
        <p:grpSpPr>
          <a:xfrm>
            <a:off x="5852160" y="1883664"/>
            <a:ext cx="3017520" cy="621792"/>
            <a:chOff x="5852160" y="1883664"/>
            <a:chExt cx="3017520" cy="621792"/>
          </a:xfrm>
        </p:grpSpPr>
        <p:sp>
          <p:nvSpPr>
            <p:cNvPr id="9" name="Shape 6"/>
            <p:cNvSpPr/>
            <p:nvPr/>
          </p:nvSpPr>
          <p:spPr>
            <a:xfrm>
              <a:off x="5852160" y="1883664"/>
              <a:ext cx="3017520" cy="621792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0" name="Shape 7"/>
            <p:cNvSpPr/>
            <p:nvPr/>
          </p:nvSpPr>
          <p:spPr>
            <a:xfrm>
              <a:off x="5852160" y="1883664"/>
              <a:ext cx="54864" cy="621792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1" name="Text 8"/>
            <p:cNvSpPr/>
            <p:nvPr/>
          </p:nvSpPr>
          <p:spPr>
            <a:xfrm>
              <a:off x="5998464" y="1920240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Monthly Spending</a:t>
              </a: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5998464" y="2194560"/>
              <a:ext cx="2788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Month-wise expense breakdown across YYYY-MM buckets</a:t>
              </a:r>
              <a:endParaRPr lang="en-US" sz="10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230305-0C5B-6260-B422-2426E5360B2B}"/>
              </a:ext>
            </a:extLst>
          </p:cNvPr>
          <p:cNvGrpSpPr/>
          <p:nvPr/>
        </p:nvGrpSpPr>
        <p:grpSpPr>
          <a:xfrm>
            <a:off x="5852160" y="2596896"/>
            <a:ext cx="3017520" cy="621792"/>
            <a:chOff x="5852160" y="2596896"/>
            <a:chExt cx="3017520" cy="621792"/>
          </a:xfrm>
        </p:grpSpPr>
        <p:sp>
          <p:nvSpPr>
            <p:cNvPr id="13" name="Shape 10"/>
            <p:cNvSpPr/>
            <p:nvPr/>
          </p:nvSpPr>
          <p:spPr>
            <a:xfrm>
              <a:off x="5852160" y="2596896"/>
              <a:ext cx="3017520" cy="621792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4" name="Shape 11"/>
            <p:cNvSpPr/>
            <p:nvPr/>
          </p:nvSpPr>
          <p:spPr>
            <a:xfrm>
              <a:off x="5852160" y="2596896"/>
              <a:ext cx="54864" cy="621792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5" name="Text 12"/>
            <p:cNvSpPr/>
            <p:nvPr/>
          </p:nvSpPr>
          <p:spPr>
            <a:xfrm>
              <a:off x="5998464" y="2633472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Budget Overview</a:t>
              </a:r>
              <a:endParaRPr lang="en-US" sz="12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5998464" y="2907792"/>
              <a:ext cx="2788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Compares actual spend vs per-category budget limits</a:t>
              </a:r>
              <a:endParaRPr lang="en-US" sz="10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F962C3A-EE48-FA0A-4136-FA4B5829D90E}"/>
              </a:ext>
            </a:extLst>
          </p:cNvPr>
          <p:cNvGrpSpPr/>
          <p:nvPr/>
        </p:nvGrpSpPr>
        <p:grpSpPr>
          <a:xfrm>
            <a:off x="5852160" y="3310128"/>
            <a:ext cx="3017520" cy="621792"/>
            <a:chOff x="5852160" y="3310128"/>
            <a:chExt cx="3017520" cy="621792"/>
          </a:xfrm>
        </p:grpSpPr>
        <p:sp>
          <p:nvSpPr>
            <p:cNvPr id="17" name="Shape 14"/>
            <p:cNvSpPr/>
            <p:nvPr/>
          </p:nvSpPr>
          <p:spPr>
            <a:xfrm>
              <a:off x="5852160" y="3310128"/>
              <a:ext cx="3017520" cy="621792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8" name="Shape 15"/>
            <p:cNvSpPr/>
            <p:nvPr/>
          </p:nvSpPr>
          <p:spPr>
            <a:xfrm>
              <a:off x="5852160" y="3310128"/>
              <a:ext cx="54864" cy="621792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9" name="Text 16"/>
            <p:cNvSpPr/>
            <p:nvPr/>
          </p:nvSpPr>
          <p:spPr>
            <a:xfrm>
              <a:off x="5998464" y="3346704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Debt Distribution</a:t>
              </a:r>
              <a:endParaRPr lang="en-US" sz="12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5998464" y="3621024"/>
              <a:ext cx="2788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Remaining balances per creditor shown as pie slices</a:t>
              </a:r>
              <a:endParaRPr lang="en-US" sz="10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C4B2710-268E-D10E-63F2-413E3C8C24BC}"/>
              </a:ext>
            </a:extLst>
          </p:cNvPr>
          <p:cNvGrpSpPr/>
          <p:nvPr/>
        </p:nvGrpSpPr>
        <p:grpSpPr>
          <a:xfrm>
            <a:off x="5852160" y="4023360"/>
            <a:ext cx="3017520" cy="621792"/>
            <a:chOff x="5852160" y="4023360"/>
            <a:chExt cx="3017520" cy="621792"/>
          </a:xfrm>
        </p:grpSpPr>
        <p:sp>
          <p:nvSpPr>
            <p:cNvPr id="21" name="Shape 18"/>
            <p:cNvSpPr/>
            <p:nvPr/>
          </p:nvSpPr>
          <p:spPr>
            <a:xfrm>
              <a:off x="5852160" y="4023360"/>
              <a:ext cx="3017520" cy="621792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22" name="Shape 19"/>
            <p:cNvSpPr/>
            <p:nvPr/>
          </p:nvSpPr>
          <p:spPr>
            <a:xfrm>
              <a:off x="5852160" y="4023360"/>
              <a:ext cx="54864" cy="621792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23" name="Text 20"/>
            <p:cNvSpPr/>
            <p:nvPr/>
          </p:nvSpPr>
          <p:spPr>
            <a:xfrm>
              <a:off x="5998464" y="4059936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B850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Savings Progress</a:t>
              </a:r>
              <a:endParaRPr lang="en-US" sz="12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5998464" y="4334256"/>
              <a:ext cx="2788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Saved vs remaining amount towards the user's goal</a:t>
              </a:r>
              <a:endParaRPr lang="en-US" sz="10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70EA7DD-CE47-CE3B-527E-2A34F1213FFF}"/>
              </a:ext>
            </a:extLst>
          </p:cNvPr>
          <p:cNvGrpSpPr/>
          <p:nvPr/>
        </p:nvGrpSpPr>
        <p:grpSpPr>
          <a:xfrm>
            <a:off x="365760" y="1097280"/>
            <a:ext cx="8412480" cy="768096"/>
            <a:chOff x="365760" y="1097280"/>
            <a:chExt cx="8412480" cy="768096"/>
          </a:xfrm>
        </p:grpSpPr>
        <p:sp>
          <p:nvSpPr>
            <p:cNvPr id="3" name="Shape 1"/>
            <p:cNvSpPr/>
            <p:nvPr/>
          </p:nvSpPr>
          <p:spPr>
            <a:xfrm>
              <a:off x="365760" y="1097280"/>
              <a:ext cx="8412480" cy="768096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4" name="Shape 2"/>
            <p:cNvSpPr/>
            <p:nvPr/>
          </p:nvSpPr>
          <p:spPr>
            <a:xfrm>
              <a:off x="365760" y="1097280"/>
              <a:ext cx="73152" cy="768096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5" name="Text 3"/>
            <p:cNvSpPr/>
            <p:nvPr/>
          </p:nvSpPr>
          <p:spPr>
            <a:xfrm>
              <a:off x="566928" y="1143000"/>
              <a:ext cx="18288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D4845A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Python 3</a:t>
              </a:r>
              <a:endParaRPr lang="en-US" sz="16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66928" y="1517904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8B73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Language</a:t>
              </a:r>
              <a:endParaRPr lang="en-US" sz="11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514600" y="1225296"/>
              <a:ext cx="612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business logic, file handling, menus, and validation written in pure Python.</a:t>
              </a:r>
              <a:endParaRPr lang="en-US" sz="12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C5954F-4F29-8D66-A330-069EA81C7A4E}"/>
              </a:ext>
            </a:extLst>
          </p:cNvPr>
          <p:cNvGrpSpPr/>
          <p:nvPr/>
        </p:nvGrpSpPr>
        <p:grpSpPr>
          <a:xfrm>
            <a:off x="365760" y="1984248"/>
            <a:ext cx="8412480" cy="768096"/>
            <a:chOff x="365760" y="1984248"/>
            <a:chExt cx="8412480" cy="768096"/>
          </a:xfrm>
        </p:grpSpPr>
        <p:sp>
          <p:nvSpPr>
            <p:cNvPr id="8" name="Shape 6"/>
            <p:cNvSpPr/>
            <p:nvPr/>
          </p:nvSpPr>
          <p:spPr>
            <a:xfrm>
              <a:off x="365760" y="1984248"/>
              <a:ext cx="8412480" cy="768096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9" name="Shape 7"/>
            <p:cNvSpPr/>
            <p:nvPr/>
          </p:nvSpPr>
          <p:spPr>
            <a:xfrm>
              <a:off x="365760" y="1984248"/>
              <a:ext cx="73152" cy="768096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0" name="Text 8"/>
            <p:cNvSpPr/>
            <p:nvPr/>
          </p:nvSpPr>
          <p:spPr>
            <a:xfrm>
              <a:off x="566928" y="2029968"/>
              <a:ext cx="18288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D4845A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CSV Files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66928" y="2404872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8B73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Storage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514600" y="2112264"/>
              <a:ext cx="612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Five CSV files: users, expenses, debts, budgets, savings — no database required.</a:t>
              </a:r>
              <a:endParaRPr lang="en-US" sz="12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93819FA-99D6-C29C-A777-316BB79E1CE3}"/>
              </a:ext>
            </a:extLst>
          </p:cNvPr>
          <p:cNvGrpSpPr/>
          <p:nvPr/>
        </p:nvGrpSpPr>
        <p:grpSpPr>
          <a:xfrm>
            <a:off x="365760" y="2871216"/>
            <a:ext cx="8412480" cy="768096"/>
            <a:chOff x="365760" y="2871216"/>
            <a:chExt cx="8412480" cy="768096"/>
          </a:xfrm>
        </p:grpSpPr>
        <p:sp>
          <p:nvSpPr>
            <p:cNvPr id="13" name="Shape 11"/>
            <p:cNvSpPr/>
            <p:nvPr/>
          </p:nvSpPr>
          <p:spPr>
            <a:xfrm>
              <a:off x="365760" y="2871216"/>
              <a:ext cx="8412480" cy="768096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4" name="Shape 12"/>
            <p:cNvSpPr/>
            <p:nvPr/>
          </p:nvSpPr>
          <p:spPr>
            <a:xfrm>
              <a:off x="365760" y="2871216"/>
              <a:ext cx="73152" cy="768096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5" name="Text 13"/>
            <p:cNvSpPr/>
            <p:nvPr/>
          </p:nvSpPr>
          <p:spPr>
            <a:xfrm>
              <a:off x="566928" y="2916936"/>
              <a:ext cx="18288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D4845A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Matplotlib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66928" y="329184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8B73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Visualization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514600" y="2999232"/>
              <a:ext cx="612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Generates 5 real-time pie charts for expense, debt, savings, and budget analysis.</a:t>
              </a:r>
              <a:endParaRPr lang="en-US" sz="12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F716A6-D7D4-A464-9ABB-EECE3DC86888}"/>
              </a:ext>
            </a:extLst>
          </p:cNvPr>
          <p:cNvGrpSpPr/>
          <p:nvPr/>
        </p:nvGrpSpPr>
        <p:grpSpPr>
          <a:xfrm>
            <a:off x="365760" y="3758184"/>
            <a:ext cx="8412480" cy="768096"/>
            <a:chOff x="365760" y="3758184"/>
            <a:chExt cx="8412480" cy="768096"/>
          </a:xfrm>
        </p:grpSpPr>
        <p:sp>
          <p:nvSpPr>
            <p:cNvPr id="18" name="Shape 16"/>
            <p:cNvSpPr/>
            <p:nvPr/>
          </p:nvSpPr>
          <p:spPr>
            <a:xfrm>
              <a:off x="365760" y="3758184"/>
              <a:ext cx="8412480" cy="768096"/>
            </a:xfrm>
            <a:prstGeom prst="rect">
              <a:avLst/>
            </a:prstGeom>
            <a:solidFill>
              <a:srgbClr val="FFFFFF">
                <a:alpha val="8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9" name="Shape 17"/>
            <p:cNvSpPr/>
            <p:nvPr/>
          </p:nvSpPr>
          <p:spPr>
            <a:xfrm>
              <a:off x="365760" y="3758184"/>
              <a:ext cx="73152" cy="768096"/>
            </a:xfrm>
            <a:prstGeom prst="rect">
              <a:avLst/>
            </a:prstGeom>
            <a:solidFill>
              <a:srgbClr val="B85042"/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20" name="Text 18"/>
            <p:cNvSpPr/>
            <p:nvPr/>
          </p:nvSpPr>
          <p:spPr>
            <a:xfrm>
              <a:off x="566928" y="3803904"/>
              <a:ext cx="18288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D4845A"/>
                  </a:solidFill>
                  <a:latin typeface="Calibri Light" pitchFamily="34" charset="0"/>
                  <a:ea typeface="Calibri Light" pitchFamily="34" charset="-122"/>
                  <a:cs typeface="Calibri Light" pitchFamily="34" charset="-120"/>
                </a:rPr>
                <a:t>Datetime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66928" y="417880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8B73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 &amp; Time Handling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514600" y="3886200"/>
              <a:ext cx="61264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Auto-generates YYYY-MM-DD timestamps for every expense entry logged.</a:t>
              </a:r>
              <a:endParaRPr lang="en-US" sz="125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frameworks or databases — fully portable, runs on any system with Python 3 installed.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Architecture</a:t>
            </a:r>
            <a:endParaRPr lang="en-US" sz="3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F7A64D4-1A97-EC79-7A61-DC5F79B5B090}"/>
              </a:ext>
            </a:extLst>
          </p:cNvPr>
          <p:cNvGrpSpPr/>
          <p:nvPr/>
        </p:nvGrpSpPr>
        <p:grpSpPr>
          <a:xfrm>
            <a:off x="365760" y="1115568"/>
            <a:ext cx="8412480" cy="667512"/>
            <a:chOff x="365760" y="1115568"/>
            <a:chExt cx="8412480" cy="667512"/>
          </a:xfrm>
        </p:grpSpPr>
        <p:sp>
          <p:nvSpPr>
            <p:cNvPr id="4" name="Shape 2"/>
            <p:cNvSpPr/>
            <p:nvPr/>
          </p:nvSpPr>
          <p:spPr>
            <a:xfrm>
              <a:off x="365760" y="1115568"/>
              <a:ext cx="8412480" cy="667512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5" name="Text 3"/>
            <p:cNvSpPr/>
            <p:nvPr/>
          </p:nvSpPr>
          <p:spPr>
            <a:xfrm>
              <a:off x="502920" y="1179576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users.csv</a:t>
              </a:r>
              <a:endParaRPr lang="en-US" sz="13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02920" y="1490472"/>
              <a:ext cx="3200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B73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 · username · password</a:t>
              </a:r>
              <a:endParaRPr lang="en-US" sz="10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840480" y="1271016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Stores all registered user credentials</a:t>
              </a:r>
              <a:endParaRPr lang="en-US" sz="12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E99A6A-C8F2-5FE0-8089-F90165890C1B}"/>
              </a:ext>
            </a:extLst>
          </p:cNvPr>
          <p:cNvGrpSpPr/>
          <p:nvPr/>
        </p:nvGrpSpPr>
        <p:grpSpPr>
          <a:xfrm>
            <a:off x="365760" y="1883664"/>
            <a:ext cx="8412480" cy="667512"/>
            <a:chOff x="365760" y="1883664"/>
            <a:chExt cx="8412480" cy="667512"/>
          </a:xfrm>
        </p:grpSpPr>
        <p:sp>
          <p:nvSpPr>
            <p:cNvPr id="8" name="Shape 6"/>
            <p:cNvSpPr/>
            <p:nvPr/>
          </p:nvSpPr>
          <p:spPr>
            <a:xfrm>
              <a:off x="365760" y="1883664"/>
              <a:ext cx="8412480" cy="6675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1947672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expenses.csv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02920" y="2258568"/>
              <a:ext cx="3200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B73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 · user_id · amount · category · date</a:t>
              </a:r>
              <a:endParaRPr lang="en-US" sz="10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840480" y="2039112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expense entry with auto-generated date-stamp</a:t>
              </a:r>
              <a:endParaRPr lang="en-US" sz="12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65EE1F-631B-CE10-5743-93ECB2CF6DDF}"/>
              </a:ext>
            </a:extLst>
          </p:cNvPr>
          <p:cNvGrpSpPr/>
          <p:nvPr/>
        </p:nvGrpSpPr>
        <p:grpSpPr>
          <a:xfrm>
            <a:off x="365760" y="2651760"/>
            <a:ext cx="8412480" cy="667512"/>
            <a:chOff x="365760" y="2651760"/>
            <a:chExt cx="8412480" cy="667512"/>
          </a:xfrm>
        </p:grpSpPr>
        <p:sp>
          <p:nvSpPr>
            <p:cNvPr id="12" name="Shape 10"/>
            <p:cNvSpPr/>
            <p:nvPr/>
          </p:nvSpPr>
          <p:spPr>
            <a:xfrm>
              <a:off x="365760" y="2651760"/>
              <a:ext cx="8412480" cy="667512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3" name="Text 11"/>
            <p:cNvSpPr/>
            <p:nvPr/>
          </p:nvSpPr>
          <p:spPr>
            <a:xfrm>
              <a:off x="502920" y="2715768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debts.csv</a:t>
              </a:r>
              <a:endParaRPr lang="en-US" sz="13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02920" y="3026664"/>
              <a:ext cx="3200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B73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 · user_id · name · total · remaining</a:t>
              </a:r>
              <a:endParaRPr lang="en-US" sz="10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840480" y="2807208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Tracks creditors and repayment progress</a:t>
              </a:r>
              <a:endParaRPr lang="en-US" sz="12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87A6806-E847-E4AB-BF5B-D3B68FD275A3}"/>
              </a:ext>
            </a:extLst>
          </p:cNvPr>
          <p:cNvGrpSpPr/>
          <p:nvPr/>
        </p:nvGrpSpPr>
        <p:grpSpPr>
          <a:xfrm>
            <a:off x="365760" y="3419856"/>
            <a:ext cx="8412480" cy="667512"/>
            <a:chOff x="365760" y="3419856"/>
            <a:chExt cx="8412480" cy="667512"/>
          </a:xfrm>
        </p:grpSpPr>
        <p:sp>
          <p:nvSpPr>
            <p:cNvPr id="16" name="Shape 14"/>
            <p:cNvSpPr/>
            <p:nvPr/>
          </p:nvSpPr>
          <p:spPr>
            <a:xfrm>
              <a:off x="365760" y="3419856"/>
              <a:ext cx="8412480" cy="6675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17" name="Text 15"/>
            <p:cNvSpPr/>
            <p:nvPr/>
          </p:nvSpPr>
          <p:spPr>
            <a:xfrm>
              <a:off x="502920" y="3483864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budgets.csv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02920" y="3794760"/>
              <a:ext cx="3200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B73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 · user_id · category · limit</a:t>
              </a:r>
              <a:endParaRPr lang="en-US" sz="10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840480" y="3575304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Per-category spending limits per user</a:t>
              </a:r>
              <a:endParaRPr lang="en-US" sz="125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6ED797-3D65-34AA-D9FA-C22D285FFD67}"/>
              </a:ext>
            </a:extLst>
          </p:cNvPr>
          <p:cNvGrpSpPr/>
          <p:nvPr/>
        </p:nvGrpSpPr>
        <p:grpSpPr>
          <a:xfrm>
            <a:off x="365760" y="4187952"/>
            <a:ext cx="8412480" cy="667512"/>
            <a:chOff x="365760" y="4187952"/>
            <a:chExt cx="8412480" cy="667512"/>
          </a:xfrm>
        </p:grpSpPr>
        <p:sp>
          <p:nvSpPr>
            <p:cNvPr id="20" name="Shape 18"/>
            <p:cNvSpPr/>
            <p:nvPr/>
          </p:nvSpPr>
          <p:spPr>
            <a:xfrm>
              <a:off x="365760" y="4187952"/>
              <a:ext cx="8412480" cy="667512"/>
            </a:xfrm>
            <a:prstGeom prst="rect">
              <a:avLst/>
            </a:prstGeom>
            <a:solidFill>
              <a:srgbClr val="FAF6F1"/>
            </a:solidFill>
            <a:ln/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sd-Arab-PK"/>
            </a:p>
          </p:txBody>
        </p:sp>
        <p:sp>
          <p:nvSpPr>
            <p:cNvPr id="21" name="Text 19"/>
            <p:cNvSpPr/>
            <p:nvPr/>
          </p:nvSpPr>
          <p:spPr>
            <a:xfrm>
              <a:off x="502920" y="4251960"/>
              <a:ext cx="20116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8504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savings.csv</a:t>
              </a:r>
              <a:endParaRPr lang="en-US" sz="13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02920" y="4562856"/>
              <a:ext cx="32004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B735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user_id · goal · current</a:t>
              </a:r>
              <a:endParaRPr lang="en-US" sz="10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840480" y="4343400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5C4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Savings target and current accumulated amount</a:t>
              </a:r>
              <a:endParaRPr lang="en-US" sz="12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B85042">
              <a:alpha val="20000"/>
            </a:srgbClr>
          </a:solidFill>
          <a:ln/>
        </p:spPr>
        <p:txBody>
          <a:bodyPr/>
          <a:lstStyle/>
          <a:p>
            <a:endParaRPr lang="sd-Arab-PK"/>
          </a:p>
        </p:txBody>
      </p:sp>
      <p:sp>
        <p:nvSpPr>
          <p:cNvPr id="3" name="Shape 1"/>
          <p:cNvSpPr/>
          <p:nvPr/>
        </p:nvSpPr>
        <p:spPr>
          <a:xfrm>
            <a:off x="6583680" y="2926080"/>
            <a:ext cx="4114800" cy="4114800"/>
          </a:xfrm>
          <a:prstGeom prst="ellipse">
            <a:avLst/>
          </a:prstGeom>
          <a:solidFill>
            <a:srgbClr val="D4845A">
              <a:alpha val="15000"/>
            </a:srgbClr>
          </a:solidFill>
          <a:ln/>
        </p:spPr>
        <p:txBody>
          <a:bodyPr/>
          <a:lstStyle/>
          <a:p>
            <a:endParaRPr lang="sd-Arab-PK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56032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Tracker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633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personal finance solution — built in Python, powered by CSV</a:t>
            </a:r>
            <a:endParaRPr lang="en-US" sz="1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D0093B2-2B5C-33F6-2975-FD8F38019FE8}"/>
              </a:ext>
            </a:extLst>
          </p:cNvPr>
          <p:cNvGrpSpPr/>
          <p:nvPr/>
        </p:nvGrpSpPr>
        <p:grpSpPr>
          <a:xfrm>
            <a:off x="548640" y="3310128"/>
            <a:ext cx="1920240" cy="457200"/>
            <a:chOff x="548640" y="3310128"/>
            <a:chExt cx="1920240" cy="457200"/>
          </a:xfrm>
        </p:grpSpPr>
        <p:sp>
          <p:nvSpPr>
            <p:cNvPr id="7" name="Shape 4"/>
            <p:cNvSpPr/>
            <p:nvPr/>
          </p:nvSpPr>
          <p:spPr>
            <a:xfrm>
              <a:off x="548640" y="3310128"/>
              <a:ext cx="1920240" cy="457200"/>
            </a:xfrm>
            <a:prstGeom prst="rect">
              <a:avLst/>
            </a:prstGeom>
            <a:solidFill>
              <a:srgbClr val="B85042">
                <a:alpha val="80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8" name="Text 5"/>
            <p:cNvSpPr/>
            <p:nvPr/>
          </p:nvSpPr>
          <p:spPr>
            <a:xfrm>
              <a:off x="548640" y="3328416"/>
              <a:ext cx="19202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CSV-Powered Storage</a:t>
              </a:r>
              <a:endParaRPr lang="en-US" sz="11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55989F-41E5-225A-B15D-37C4C20B12BD}"/>
              </a:ext>
            </a:extLst>
          </p:cNvPr>
          <p:cNvGrpSpPr/>
          <p:nvPr/>
        </p:nvGrpSpPr>
        <p:grpSpPr>
          <a:xfrm>
            <a:off x="2606040" y="3310128"/>
            <a:ext cx="1920240" cy="457200"/>
            <a:chOff x="2606040" y="3310128"/>
            <a:chExt cx="1920240" cy="457200"/>
          </a:xfrm>
        </p:grpSpPr>
        <p:sp>
          <p:nvSpPr>
            <p:cNvPr id="9" name="Shape 6"/>
            <p:cNvSpPr/>
            <p:nvPr/>
          </p:nvSpPr>
          <p:spPr>
            <a:xfrm>
              <a:off x="2606040" y="3310128"/>
              <a:ext cx="1920240" cy="457200"/>
            </a:xfrm>
            <a:prstGeom prst="rect">
              <a:avLst/>
            </a:prstGeom>
            <a:solidFill>
              <a:srgbClr val="B85042">
                <a:alpha val="80000"/>
              </a:srgbClr>
            </a:solidFill>
            <a:ln/>
          </p:spPr>
          <p:txBody>
            <a:bodyPr/>
            <a:lstStyle/>
            <a:p>
              <a:endParaRPr lang="sd-Arab-PK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2606040" y="3328416"/>
              <a:ext cx="19202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Multi-User Security</a:t>
              </a:r>
              <a:endParaRPr lang="en-US" sz="11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B2D606-C916-45F7-39BF-92F11C6F8B71}"/>
              </a:ext>
            </a:extLst>
          </p:cNvPr>
          <p:cNvGrpSpPr/>
          <p:nvPr/>
        </p:nvGrpSpPr>
        <p:grpSpPr>
          <a:xfrm>
            <a:off x="4663440" y="3310128"/>
            <a:ext cx="1920240" cy="457200"/>
            <a:chOff x="4663440" y="3310128"/>
            <a:chExt cx="1920240" cy="457200"/>
          </a:xfrm>
        </p:grpSpPr>
        <p:sp>
          <p:nvSpPr>
            <p:cNvPr id="11" name="Shape 8"/>
            <p:cNvSpPr/>
            <p:nvPr/>
          </p:nvSpPr>
          <p:spPr>
            <a:xfrm>
              <a:off x="4663440" y="3310128"/>
              <a:ext cx="1920240" cy="457200"/>
            </a:xfrm>
            <a:prstGeom prst="rect">
              <a:avLst/>
            </a:prstGeom>
            <a:solidFill>
              <a:srgbClr val="B85042">
                <a:alpha val="80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2" name="Text 9"/>
            <p:cNvSpPr/>
            <p:nvPr/>
          </p:nvSpPr>
          <p:spPr>
            <a:xfrm>
              <a:off x="4663440" y="3328416"/>
              <a:ext cx="19202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 Analytics</a:t>
              </a:r>
              <a:endParaRPr lang="en-US" sz="11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F214849-2B4F-2B99-44E3-61F3B94BCB59}"/>
              </a:ext>
            </a:extLst>
          </p:cNvPr>
          <p:cNvGrpSpPr/>
          <p:nvPr/>
        </p:nvGrpSpPr>
        <p:grpSpPr>
          <a:xfrm>
            <a:off x="6720840" y="3310128"/>
            <a:ext cx="1920240" cy="457200"/>
            <a:chOff x="6720840" y="3310128"/>
            <a:chExt cx="1920240" cy="457200"/>
          </a:xfrm>
        </p:grpSpPr>
        <p:sp>
          <p:nvSpPr>
            <p:cNvPr id="13" name="Shape 10"/>
            <p:cNvSpPr/>
            <p:nvPr/>
          </p:nvSpPr>
          <p:spPr>
            <a:xfrm>
              <a:off x="6720840" y="3310128"/>
              <a:ext cx="1920240" cy="457200"/>
            </a:xfrm>
            <a:prstGeom prst="rect">
              <a:avLst/>
            </a:prstGeom>
            <a:solidFill>
              <a:srgbClr val="B85042">
                <a:alpha val="80000"/>
              </a:srgbClr>
            </a:solidFill>
            <a:ln/>
          </p:spPr>
          <p:txBody>
            <a:bodyPr/>
            <a:lstStyle/>
            <a:p>
              <a:endParaRPr lang="sd-Arab-PK"/>
            </a:p>
          </p:txBody>
        </p:sp>
        <p:sp>
          <p:nvSpPr>
            <p:cNvPr id="14" name="Text 11"/>
            <p:cNvSpPr/>
            <p:nvPr/>
          </p:nvSpPr>
          <p:spPr>
            <a:xfrm>
              <a:off x="6720840" y="3328416"/>
              <a:ext cx="19202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Zero Dependencies</a:t>
              </a:r>
              <a:endParaRPr lang="en-US" sz="1100" dirty="0"/>
            </a:p>
          </p:txBody>
        </p:sp>
      </p:grpSp>
      <p:sp>
        <p:nvSpPr>
          <p:cNvPr id="15" name="Text 1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84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2371</TotalTime>
  <Words>566</Words>
  <Application>Microsoft Office PowerPoint</Application>
  <PresentationFormat>On-screen Show (16:9)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Tracker</dc:title>
  <dc:subject>PptxGenJS Presentation</dc:subject>
  <dc:creator>Deepak</dc:creator>
  <cp:lastModifiedBy>K255636 Deepak Kumar</cp:lastModifiedBy>
  <cp:revision>5</cp:revision>
  <dcterms:created xsi:type="dcterms:W3CDTF">2026-04-25T07:14:55Z</dcterms:created>
  <dcterms:modified xsi:type="dcterms:W3CDTF">2026-04-28T18:09:41Z</dcterms:modified>
</cp:coreProperties>
</file>